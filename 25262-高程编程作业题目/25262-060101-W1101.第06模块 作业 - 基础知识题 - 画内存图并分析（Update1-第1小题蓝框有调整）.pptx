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6"/>
  </p:notesMasterIdLst>
  <p:sldIdLst>
    <p:sldId id="838" r:id="rId2"/>
    <p:sldId id="1014" r:id="rId3"/>
    <p:sldId id="814" r:id="rId4"/>
    <p:sldId id="81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88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1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88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7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4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A6FD2A-795C-490F-87D9-42F72FAEA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、模仿第</a:t>
            </a:r>
            <a:r>
              <a:rPr lang="en-US" altLang="zh-CN" sz="1600" b="1" dirty="0">
                <a:latin typeface="+mn-ea"/>
              </a:rPr>
              <a:t>06</a:t>
            </a:r>
            <a:r>
              <a:rPr lang="zh-CN" altLang="en-US" sz="1600" b="1" dirty="0">
                <a:latin typeface="+mn-ea"/>
              </a:rPr>
              <a:t>模块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课件中</a:t>
            </a:r>
            <a:r>
              <a:rPr lang="en-US" altLang="zh-CN" sz="1600" b="1" dirty="0">
                <a:latin typeface="+mn-ea"/>
              </a:rPr>
              <a:t>(P.16-19/P.27-30)</a:t>
            </a:r>
            <a:r>
              <a:rPr lang="zh-CN" altLang="en-US" sz="1600" b="1" dirty="0">
                <a:latin typeface="+mn-ea"/>
              </a:rPr>
              <a:t>的样式，画出下列每小题每一步执行的内存分配及指向图示，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分析为什么得到最后的结果。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、每个语句要画一张内存状态图，每小题都是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张图</a:t>
            </a: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张初始内存分配图附件已给出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、不允许手写、手写后贴图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5.20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友情提醒：大家尽快把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VS2026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调试的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长期作业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做完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除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字符指针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"/"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引用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知识点外，其它已经全部讲过了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，千万不要卡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DDL!!!</a:t>
            </a: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11511B1-C29A-4DA4-8185-FF265688B8EA}"/>
              </a:ext>
            </a:extLst>
          </p:cNvPr>
          <p:cNvGrpSpPr/>
          <p:nvPr/>
        </p:nvGrpSpPr>
        <p:grpSpPr>
          <a:xfrm>
            <a:off x="575932" y="1017938"/>
            <a:ext cx="8856662" cy="5179662"/>
            <a:chOff x="1703388" y="2276872"/>
            <a:chExt cx="8856662" cy="517966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7685B63-B695-4C6D-8BF5-D9F923CD25A3}"/>
                </a:ext>
              </a:extLst>
            </p:cNvPr>
            <p:cNvGrpSpPr/>
            <p:nvPr/>
          </p:nvGrpSpPr>
          <p:grpSpPr>
            <a:xfrm>
              <a:off x="1703388" y="2276872"/>
              <a:ext cx="8856662" cy="5179662"/>
              <a:chOff x="1703388" y="2276872"/>
              <a:chExt cx="8856662" cy="5179662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s=28.2743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FD2FBCD4-A75E-4C4E-8B70-0255A443D8CA}"/>
                  </a:ext>
                </a:extLst>
              </p:cNvPr>
              <p:cNvGrpSpPr/>
              <p:nvPr/>
            </p:nvGrpSpPr>
            <p:grpSpPr>
              <a:xfrm>
                <a:off x="1703388" y="2276872"/>
                <a:ext cx="8856662" cy="5179662"/>
                <a:chOff x="1703388" y="2276872"/>
                <a:chExt cx="8856662" cy="5179662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8856662" cy="517966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&gt;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#define PI 3.14159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double SL(double R, double *L)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double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 = PI*R*R;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*L = 2*PI*R;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return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main()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, r=3;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);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return 0;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函数执行后同时得到周长及面积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周长：指针变量做形参方式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面积：函数返回值方式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299433" cy="2196108"/>
                  <a:chOff x="6296620" y="1307232"/>
                  <a:chExt cx="2625665" cy="3615447"/>
                </a:xfrm>
              </p:grpSpPr>
              <p:grpSp>
                <p:nvGrpSpPr>
                  <p:cNvPr id="29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066801" cy="609600"/>
                    <a:chOff x="6293384" y="2157375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066801" cy="609600"/>
                    <a:chOff x="7855484" y="2157375"/>
                    <a:chExt cx="1066801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3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066801" cy="609600"/>
                    <a:chOff x="6293384" y="3398800"/>
                    <a:chExt cx="1066801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&amp;l</a:t>
                      </a: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理解最后的输出结果</a:t>
                  </a:r>
                </a:p>
              </p:txBody>
            </p:sp>
            <p:cxnSp>
              <p:nvCxnSpPr>
                <p:cNvPr id="59" name="直接箭头连接符 58"/>
                <p:cNvCxnSpPr>
                  <a:cxnSpLocks/>
                  <a:stCxn id="55" idx="1"/>
                </p:cNvCxnSpPr>
                <p:nvPr/>
              </p:nvCxnSpPr>
              <p:spPr bwMode="auto">
                <a:xfrm flipH="1" flipV="1">
                  <a:off x="3510063" y="4687934"/>
                  <a:ext cx="4483490" cy="94866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9903" y="4258250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390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C2EF7EE-1078-DB2A-AA16-2E828ED2F512}"/>
              </a:ext>
            </a:extLst>
          </p:cNvPr>
          <p:cNvGrpSpPr/>
          <p:nvPr/>
        </p:nvGrpSpPr>
        <p:grpSpPr>
          <a:xfrm>
            <a:off x="575932" y="1017938"/>
            <a:ext cx="8856662" cy="5179662"/>
            <a:chOff x="575932" y="1017938"/>
            <a:chExt cx="8856662" cy="5179662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CBAFDBF-4639-4C70-9B01-900E71A8E750}"/>
                </a:ext>
              </a:extLst>
            </p:cNvPr>
            <p:cNvGrpSpPr/>
            <p:nvPr/>
          </p:nvGrpSpPr>
          <p:grpSpPr>
            <a:xfrm>
              <a:off x="575932" y="1017938"/>
              <a:ext cx="8856662" cy="5179662"/>
              <a:chOff x="1703388" y="2852936"/>
              <a:chExt cx="8856662" cy="5179662"/>
            </a:xfrm>
          </p:grpSpPr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1703388" y="2852936"/>
                <a:ext cx="8856662" cy="51796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#include &lt;iostream&gt;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using namespace std;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void swap(int *x, int *y)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{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int *t;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t = x;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x = y;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y = 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}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int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main()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{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int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=10, j=15;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&lt;&lt; "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="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&lt;&lt; " j=" &lt;&lt; j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;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   </a:t>
                </a:r>
                <a:r>
                  <a:rPr kumimoji="1" lang="en-US" altLang="zh-CN" sz="1600" b="1" dirty="0" err="1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=10 j=15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swap(&amp;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,&amp;j);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&lt;&lt; "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="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 &lt;&lt; " j=" &lt;&lt; j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;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   </a:t>
                </a:r>
                <a:r>
                  <a:rPr kumimoji="1" lang="en-US" altLang="zh-CN" sz="1600" b="1" dirty="0" err="1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i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 pitchFamily="2" charset="-122"/>
                  </a:rPr>
                  <a:t>=10 j=15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latin typeface="宋体"/>
                  <a:ea typeface="宋体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latin typeface="宋体"/>
                    <a:ea typeface="宋体" pitchFamily="2" charset="-122"/>
                  </a:rPr>
                  <a:t>    return 0;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 pitchFamily="2" charset="-122"/>
                  </a:rPr>
                  <a:t>}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endParaRPr>
              </a:p>
            </p:txBody>
          </p:sp>
          <p:grpSp>
            <p:nvGrpSpPr>
              <p:cNvPr id="4" name="Group 3"/>
              <p:cNvGrpSpPr>
                <a:grpSpLocks/>
              </p:cNvGrpSpPr>
              <p:nvPr/>
            </p:nvGrpSpPr>
            <p:grpSpPr bwMode="auto">
              <a:xfrm>
                <a:off x="6744073" y="2998441"/>
                <a:ext cx="3684811" cy="2292651"/>
                <a:chOff x="2016" y="816"/>
                <a:chExt cx="3312" cy="1784"/>
              </a:xfrm>
            </p:grpSpPr>
            <p:grpSp>
              <p:nvGrpSpPr>
                <p:cNvPr id="5" name="Group 4"/>
                <p:cNvGrpSpPr>
                  <a:grpSpLocks/>
                </p:cNvGrpSpPr>
                <p:nvPr/>
              </p:nvGrpSpPr>
              <p:grpSpPr bwMode="auto">
                <a:xfrm>
                  <a:off x="2016" y="816"/>
                  <a:ext cx="1440" cy="384"/>
                  <a:chOff x="2016" y="816"/>
                  <a:chExt cx="1440" cy="384"/>
                </a:xfrm>
              </p:grpSpPr>
              <p:sp>
                <p:nvSpPr>
                  <p:cNvPr id="25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i</a:t>
                    </a:r>
                  </a:p>
                </p:txBody>
              </p:sp>
              <p:sp>
                <p:nvSpPr>
                  <p:cNvPr id="26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10</a:t>
                    </a:r>
                  </a:p>
                </p:txBody>
              </p:sp>
              <p:sp>
                <p:nvSpPr>
                  <p:cNvPr id="27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2003</a:t>
                    </a:r>
                  </a:p>
                </p:txBody>
              </p:sp>
            </p:grpSp>
            <p:grpSp>
              <p:nvGrpSpPr>
                <p:cNvPr id="6" name="Group 8"/>
                <p:cNvGrpSpPr>
                  <a:grpSpLocks/>
                </p:cNvGrpSpPr>
                <p:nvPr/>
              </p:nvGrpSpPr>
              <p:grpSpPr bwMode="auto">
                <a:xfrm>
                  <a:off x="3888" y="816"/>
                  <a:ext cx="1440" cy="384"/>
                  <a:chOff x="2016" y="816"/>
                  <a:chExt cx="1440" cy="384"/>
                </a:xfrm>
              </p:grpSpPr>
              <p:sp>
                <p:nvSpPr>
                  <p:cNvPr id="22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j</a:t>
                    </a:r>
                  </a:p>
                </p:txBody>
              </p:sp>
              <p:sp>
                <p:nvSpPr>
                  <p:cNvPr id="23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15</a:t>
                    </a:r>
                  </a:p>
                </p:txBody>
              </p:sp>
              <p:sp>
                <p:nvSpPr>
                  <p:cNvPr id="24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2103</a:t>
                    </a:r>
                  </a:p>
                </p:txBody>
              </p:sp>
            </p:grpSp>
            <p:grpSp>
              <p:nvGrpSpPr>
                <p:cNvPr id="7" name="Group 12"/>
                <p:cNvGrpSpPr>
                  <a:grpSpLocks/>
                </p:cNvGrpSpPr>
                <p:nvPr/>
              </p:nvGrpSpPr>
              <p:grpSpPr bwMode="auto">
                <a:xfrm>
                  <a:off x="2016" y="1655"/>
                  <a:ext cx="1440" cy="384"/>
                  <a:chOff x="2016" y="695"/>
                  <a:chExt cx="1440" cy="384"/>
                </a:xfrm>
              </p:grpSpPr>
              <p:sp>
                <p:nvSpPr>
                  <p:cNvPr id="19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695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x</a:t>
                    </a:r>
                  </a:p>
                </p:txBody>
              </p:sp>
              <p:sp>
                <p:nvSpPr>
                  <p:cNvPr id="20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695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2000</a:t>
                    </a:r>
                  </a:p>
                </p:txBody>
              </p:sp>
              <p:sp>
                <p:nvSpPr>
                  <p:cNvPr id="21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695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3007</a:t>
                    </a:r>
                  </a:p>
                </p:txBody>
              </p:sp>
            </p:grpSp>
            <p:grpSp>
              <p:nvGrpSpPr>
                <p:cNvPr id="8" name="Group 16"/>
                <p:cNvGrpSpPr>
                  <a:grpSpLocks/>
                </p:cNvGrpSpPr>
                <p:nvPr/>
              </p:nvGrpSpPr>
              <p:grpSpPr bwMode="auto">
                <a:xfrm>
                  <a:off x="3888" y="1664"/>
                  <a:ext cx="1440" cy="384"/>
                  <a:chOff x="2016" y="704"/>
                  <a:chExt cx="1440" cy="384"/>
                </a:xfrm>
              </p:grpSpPr>
              <p:sp>
                <p:nvSpPr>
                  <p:cNvPr id="16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704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y</a:t>
                    </a:r>
                  </a:p>
                </p:txBody>
              </p:sp>
              <p:sp>
                <p:nvSpPr>
                  <p:cNvPr id="17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704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2100</a:t>
                    </a:r>
                  </a:p>
                </p:txBody>
              </p:sp>
              <p:sp>
                <p:nvSpPr>
                  <p:cNvPr id="1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704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3100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3107</a:t>
                    </a:r>
                  </a:p>
                </p:txBody>
              </p:sp>
            </p:grpSp>
            <p:sp>
              <p:nvSpPr>
                <p:cNvPr id="11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1296"/>
                  <a:ext cx="768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单向传值</a:t>
                  </a:r>
                </a:p>
              </p:txBody>
            </p:sp>
            <p:grpSp>
              <p:nvGrpSpPr>
                <p:cNvPr id="12" name="Group 23"/>
                <p:cNvGrpSpPr>
                  <a:grpSpLocks/>
                </p:cNvGrpSpPr>
                <p:nvPr/>
              </p:nvGrpSpPr>
              <p:grpSpPr bwMode="auto">
                <a:xfrm>
                  <a:off x="3024" y="2216"/>
                  <a:ext cx="1440" cy="384"/>
                  <a:chOff x="2016" y="584"/>
                  <a:chExt cx="1440" cy="384"/>
                </a:xfrm>
              </p:grpSpPr>
              <p:sp>
                <p:nvSpPr>
                  <p:cNvPr id="13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584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t</a:t>
                    </a:r>
                  </a:p>
                </p:txBody>
              </p:sp>
              <p:sp>
                <p:nvSpPr>
                  <p:cNvPr id="14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584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?</a:t>
                    </a:r>
                  </a:p>
                </p:txBody>
              </p:sp>
              <p:sp>
                <p:nvSpPr>
                  <p:cNvPr id="15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584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4000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4007</a:t>
                    </a:r>
                  </a:p>
                </p:txBody>
              </p:sp>
            </p:grpSp>
          </p:grpSp>
          <p:sp>
            <p:nvSpPr>
              <p:cNvPr id="28" name="矩形 27"/>
              <p:cNvSpPr/>
              <p:nvPr/>
            </p:nvSpPr>
            <p:spPr bwMode="auto">
              <a:xfrm>
                <a:off x="8041102" y="5589240"/>
                <a:ext cx="2518948" cy="1079848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初始内存分配如图所示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请自行画出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swap</a:t>
                </a: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中三句话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执行时内存的变化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rPr>
                  <a:t>理解为什么无法交换</a:t>
                </a:r>
              </a:p>
            </p:txBody>
          </p:sp>
          <p:sp>
            <p:nvSpPr>
              <p:cNvPr id="29" name="矩形 28"/>
              <p:cNvSpPr/>
              <p:nvPr/>
            </p:nvSpPr>
            <p:spPr bwMode="auto">
              <a:xfrm>
                <a:off x="2021260" y="4376558"/>
                <a:ext cx="1008112" cy="740498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30" name="直接箭头连接符 29"/>
              <p:cNvCxnSpPr>
                <a:stCxn id="28" idx="1"/>
                <a:endCxn id="29" idx="3"/>
              </p:cNvCxnSpPr>
              <p:nvPr/>
            </p:nvCxnSpPr>
            <p:spPr bwMode="auto">
              <a:xfrm flipH="1" flipV="1">
                <a:off x="3029372" y="4746807"/>
                <a:ext cx="5011730" cy="13823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586DC4A7-B4B6-7EC2-1BD0-87C67E3ACF95}"/>
                </a:ext>
              </a:extLst>
            </p:cNvPr>
            <p:cNvSpPr/>
            <p:nvPr/>
          </p:nvSpPr>
          <p:spPr bwMode="auto">
            <a:xfrm rot="1368117">
              <a:off x="6465839" y="1376950"/>
              <a:ext cx="169546" cy="897171"/>
            </a:xfrm>
            <a:prstGeom prst="down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ED21736D-DA24-A57B-40B1-8EEDD7276FD8}"/>
                </a:ext>
              </a:extLst>
            </p:cNvPr>
            <p:cNvSpPr/>
            <p:nvPr/>
          </p:nvSpPr>
          <p:spPr bwMode="auto">
            <a:xfrm rot="1368117">
              <a:off x="8571708" y="1376951"/>
              <a:ext cx="169546" cy="897171"/>
            </a:xfrm>
            <a:prstGeom prst="down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</p:txBody>
      </p:sp>
      <p:grpSp>
        <p:nvGrpSpPr>
          <p:cNvPr id="108555" name="组合 108554">
            <a:extLst>
              <a:ext uri="{FF2B5EF4-FFF2-40B4-BE49-F238E27FC236}">
                <a16:creationId xmlns:a16="http://schemas.microsoft.com/office/drawing/2014/main" id="{4BFA53AF-37DC-80BF-8481-8556EFC01F43}"/>
              </a:ext>
            </a:extLst>
          </p:cNvPr>
          <p:cNvGrpSpPr/>
          <p:nvPr/>
        </p:nvGrpSpPr>
        <p:grpSpPr>
          <a:xfrm>
            <a:off x="575932" y="1017938"/>
            <a:ext cx="8856662" cy="5179662"/>
            <a:chOff x="575932" y="1017938"/>
            <a:chExt cx="8856662" cy="5179662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665C94A-B509-40F6-8F63-328022F4AF6F}"/>
                </a:ext>
              </a:extLst>
            </p:cNvPr>
            <p:cNvGrpSpPr/>
            <p:nvPr/>
          </p:nvGrpSpPr>
          <p:grpSpPr>
            <a:xfrm>
              <a:off x="575932" y="1017938"/>
              <a:ext cx="8856662" cy="5179662"/>
              <a:chOff x="1703388" y="3068960"/>
              <a:chExt cx="8856662" cy="5179662"/>
            </a:xfrm>
          </p:grpSpPr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1703388" y="3068960"/>
                <a:ext cx="8856662" cy="51796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#include &lt;iostream&gt;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using namespace std;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void swap(int *x, int *y)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{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 int *t;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 *t = *x;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 *x = *y;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 *y = *t;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}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int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main()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{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int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=10, j=15;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&lt;&lt; "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="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&lt;&lt; " j=" &lt;&lt; j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;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   </a:t>
                </a:r>
                <a:r>
                  <a:rPr kumimoji="1" lang="en-US" altLang="zh-CN" sz="1600" b="1" dirty="0" err="1">
                    <a:solidFill>
                      <a:srgbClr val="FF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=10 j=15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swap(&amp;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,&amp;j);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&lt;&lt; "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="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&lt;&lt; " j=" &lt;&lt; j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/>
                    <a:ea typeface="宋体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;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   </a:t>
                </a:r>
                <a:r>
                  <a:rPr kumimoji="1" lang="en-US" altLang="zh-CN" sz="1600" b="1" dirty="0" err="1">
                    <a:solidFill>
                      <a:srgbClr val="FF0000"/>
                    </a:solidFill>
                    <a:latin typeface="宋体"/>
                    <a:ea typeface="宋体"/>
                  </a:rPr>
                  <a:t>i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=15 j=10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                                       或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宋体"/>
                    <a:ea typeface="宋体"/>
                  </a:rPr>
                  <a:t>无输出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/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死机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/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其它非正常现象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    return 0;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}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 bwMode="auto">
              <a:xfrm>
                <a:off x="2187970" y="4560213"/>
                <a:ext cx="1008112" cy="740498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30" name="Group 3"/>
              <p:cNvGrpSpPr>
                <a:grpSpLocks/>
              </p:cNvGrpSpPr>
              <p:nvPr/>
            </p:nvGrpSpPr>
            <p:grpSpPr bwMode="auto">
              <a:xfrm>
                <a:off x="6574405" y="3141264"/>
                <a:ext cx="3908896" cy="1977752"/>
                <a:chOff x="2016" y="816"/>
                <a:chExt cx="3312" cy="1728"/>
              </a:xfrm>
            </p:grpSpPr>
            <p:grpSp>
              <p:nvGrpSpPr>
                <p:cNvPr id="31" name="Group 4"/>
                <p:cNvGrpSpPr>
                  <a:grpSpLocks/>
                </p:cNvGrpSpPr>
                <p:nvPr/>
              </p:nvGrpSpPr>
              <p:grpSpPr bwMode="auto">
                <a:xfrm>
                  <a:off x="2016" y="816"/>
                  <a:ext cx="1440" cy="384"/>
                  <a:chOff x="2016" y="816"/>
                  <a:chExt cx="1440" cy="384"/>
                </a:xfrm>
              </p:grpSpPr>
              <p:sp>
                <p:nvSpPr>
                  <p:cNvPr id="54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i</a:t>
                    </a:r>
                  </a:p>
                </p:txBody>
              </p:sp>
              <p:sp>
                <p:nvSpPr>
                  <p:cNvPr id="55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10</a:t>
                    </a:r>
                  </a:p>
                </p:txBody>
              </p:sp>
              <p:sp>
                <p:nvSpPr>
                  <p:cNvPr id="56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2003</a:t>
                    </a:r>
                  </a:p>
                </p:txBody>
              </p:sp>
            </p:grpSp>
            <p:grpSp>
              <p:nvGrpSpPr>
                <p:cNvPr id="32" name="Group 8"/>
                <p:cNvGrpSpPr>
                  <a:grpSpLocks/>
                </p:cNvGrpSpPr>
                <p:nvPr/>
              </p:nvGrpSpPr>
              <p:grpSpPr bwMode="auto">
                <a:xfrm>
                  <a:off x="3888" y="816"/>
                  <a:ext cx="1440" cy="384"/>
                  <a:chOff x="2016" y="816"/>
                  <a:chExt cx="1440" cy="384"/>
                </a:xfrm>
              </p:grpSpPr>
              <p:sp>
                <p:nvSpPr>
                  <p:cNvPr id="51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j</a:t>
                    </a:r>
                  </a:p>
                </p:txBody>
              </p:sp>
              <p:sp>
                <p:nvSpPr>
                  <p:cNvPr id="52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15</a:t>
                    </a:r>
                  </a:p>
                </p:txBody>
              </p:sp>
              <p:sp>
                <p:nvSpPr>
                  <p:cNvPr id="5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2103</a:t>
                    </a:r>
                  </a:p>
                </p:txBody>
              </p:sp>
            </p:grpSp>
            <p:grpSp>
              <p:nvGrpSpPr>
                <p:cNvPr id="33" name="Group 12"/>
                <p:cNvGrpSpPr>
                  <a:grpSpLocks/>
                </p:cNvGrpSpPr>
                <p:nvPr/>
              </p:nvGrpSpPr>
              <p:grpSpPr bwMode="auto">
                <a:xfrm>
                  <a:off x="2016" y="1536"/>
                  <a:ext cx="1440" cy="384"/>
                  <a:chOff x="2016" y="816"/>
                  <a:chExt cx="1440" cy="384"/>
                </a:xfrm>
              </p:grpSpPr>
              <p:sp>
                <p:nvSpPr>
                  <p:cNvPr id="48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x</a:t>
                    </a:r>
                  </a:p>
                </p:txBody>
              </p:sp>
              <p:sp>
                <p:nvSpPr>
                  <p:cNvPr id="49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2000</a:t>
                    </a:r>
                  </a:p>
                </p:txBody>
              </p:sp>
              <p:sp>
                <p:nvSpPr>
                  <p:cNvPr id="50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3007</a:t>
                    </a:r>
                  </a:p>
                </p:txBody>
              </p:sp>
            </p:grpSp>
            <p:grpSp>
              <p:nvGrpSpPr>
                <p:cNvPr id="34" name="Group 16"/>
                <p:cNvGrpSpPr>
                  <a:grpSpLocks/>
                </p:cNvGrpSpPr>
                <p:nvPr/>
              </p:nvGrpSpPr>
              <p:grpSpPr bwMode="auto">
                <a:xfrm>
                  <a:off x="3888" y="1536"/>
                  <a:ext cx="1440" cy="384"/>
                  <a:chOff x="2016" y="816"/>
                  <a:chExt cx="1440" cy="384"/>
                </a:xfrm>
              </p:grpSpPr>
              <p:sp>
                <p:nvSpPr>
                  <p:cNvPr id="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y</a:t>
                    </a:r>
                  </a:p>
                </p:txBody>
              </p:sp>
              <p:sp>
                <p:nvSpPr>
                  <p:cNvPr id="4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2100</a:t>
                    </a:r>
                  </a:p>
                </p:txBody>
              </p:sp>
              <p:sp>
                <p:nvSpPr>
                  <p:cNvPr id="4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3100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3107</a:t>
                    </a:r>
                  </a:p>
                </p:txBody>
              </p:sp>
            </p:grpSp>
            <p:sp>
              <p:nvSpPr>
                <p:cNvPr id="37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1200"/>
                  <a:ext cx="768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单向传值</a:t>
                  </a:r>
                </a:p>
              </p:txBody>
            </p:sp>
            <p:grpSp>
              <p:nvGrpSpPr>
                <p:cNvPr id="38" name="Group 23"/>
                <p:cNvGrpSpPr>
                  <a:grpSpLocks/>
                </p:cNvGrpSpPr>
                <p:nvPr/>
              </p:nvGrpSpPr>
              <p:grpSpPr bwMode="auto">
                <a:xfrm>
                  <a:off x="2016" y="2160"/>
                  <a:ext cx="1440" cy="384"/>
                  <a:chOff x="2016" y="816"/>
                  <a:chExt cx="1440" cy="384"/>
                </a:xfrm>
              </p:grpSpPr>
              <p:sp>
                <p:nvSpPr>
                  <p:cNvPr id="4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t</a:t>
                    </a:r>
                  </a:p>
                </p:txBody>
              </p:sp>
              <p:sp>
                <p:nvSpPr>
                  <p:cNvPr id="4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2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(</a:t>
                    </a:r>
                    <a:r>
                      <a:rPr kumimoji="1" lang="zh-CN" altLang="en-US" sz="12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假设</a:t>
                    </a:r>
                    <a:r>
                      <a:rPr kumimoji="1" lang="en-US" altLang="zh-CN" sz="12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5000)</a:t>
                    </a:r>
                  </a:p>
                </p:txBody>
              </p:sp>
              <p:sp>
                <p:nvSpPr>
                  <p:cNvPr id="4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3003" y="816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4000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4007</a:t>
                    </a:r>
                  </a:p>
                </p:txBody>
              </p:sp>
            </p:grpSp>
            <p:grpSp>
              <p:nvGrpSpPr>
                <p:cNvPr id="39" name="Group 27"/>
                <p:cNvGrpSpPr>
                  <a:grpSpLocks/>
                </p:cNvGrpSpPr>
                <p:nvPr/>
              </p:nvGrpSpPr>
              <p:grpSpPr bwMode="auto">
                <a:xfrm>
                  <a:off x="4128" y="2160"/>
                  <a:ext cx="1179" cy="384"/>
                  <a:chOff x="4341" y="2448"/>
                  <a:chExt cx="1179" cy="384"/>
                </a:xfrm>
              </p:grpSpPr>
              <p:sp>
                <p:nvSpPr>
                  <p:cNvPr id="4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4341" y="2448"/>
                    <a:ext cx="726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?</a:t>
                    </a:r>
                  </a:p>
                </p:txBody>
              </p:sp>
              <p:sp>
                <p:nvSpPr>
                  <p:cNvPr id="4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2448"/>
                    <a:ext cx="453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5000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itchFamily="2" charset="-122"/>
                        <a:ea typeface="宋体" pitchFamily="2" charset="-122"/>
                      </a:rPr>
                      <a:t>5003</a:t>
                    </a:r>
                  </a:p>
                </p:txBody>
              </p:sp>
            </p:grpSp>
          </p:grpSp>
          <p:sp>
            <p:nvSpPr>
              <p:cNvPr id="57" name="Rectangle 30"/>
              <p:cNvSpPr>
                <a:spLocks noChangeArrowheads="1"/>
              </p:cNvSpPr>
              <p:nvPr/>
            </p:nvSpPr>
            <p:spPr bwMode="auto">
              <a:xfrm>
                <a:off x="7873714" y="5378158"/>
                <a:ext cx="2614899" cy="57112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rPr>
                  <a:t>提示：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rPr>
                  <a:t>5000-5003</a:t>
                </a: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rPr>
                  <a:t>系统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rPr>
                  <a:t>是否分配给了程序？</a:t>
                </a:r>
              </a:p>
            </p:txBody>
          </p:sp>
          <p:cxnSp>
            <p:nvCxnSpPr>
              <p:cNvPr id="60" name="直接箭头连接符 59"/>
              <p:cNvCxnSpPr>
                <a:stCxn id="57" idx="0"/>
              </p:cNvCxnSpPr>
              <p:nvPr/>
            </p:nvCxnSpPr>
            <p:spPr bwMode="auto">
              <a:xfrm flipV="1">
                <a:off x="9181164" y="5133732"/>
                <a:ext cx="83189" cy="24442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8552" name="箭头: 下 108551">
              <a:extLst>
                <a:ext uri="{FF2B5EF4-FFF2-40B4-BE49-F238E27FC236}">
                  <a16:creationId xmlns:a16="http://schemas.microsoft.com/office/drawing/2014/main" id="{AB175672-FE30-CC0C-BE86-E0706DCB9B27}"/>
                </a:ext>
              </a:extLst>
            </p:cNvPr>
            <p:cNvSpPr/>
            <p:nvPr/>
          </p:nvSpPr>
          <p:spPr bwMode="auto">
            <a:xfrm rot="1368117">
              <a:off x="6453461" y="1257724"/>
              <a:ext cx="143513" cy="688644"/>
            </a:xfrm>
            <a:prstGeom prst="down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8553" name="箭头: 下 108552">
              <a:extLst>
                <a:ext uri="{FF2B5EF4-FFF2-40B4-BE49-F238E27FC236}">
                  <a16:creationId xmlns:a16="http://schemas.microsoft.com/office/drawing/2014/main" id="{7F5AE9DA-1752-0309-A1ED-5EDC45F3108C}"/>
                </a:ext>
              </a:extLst>
            </p:cNvPr>
            <p:cNvSpPr/>
            <p:nvPr/>
          </p:nvSpPr>
          <p:spPr bwMode="auto">
            <a:xfrm rot="1368117">
              <a:off x="8623128" y="1257725"/>
              <a:ext cx="143513" cy="688644"/>
            </a:xfrm>
            <a:prstGeom prst="down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8554" name="箭头: 下 108553">
              <a:extLst>
                <a:ext uri="{FF2B5EF4-FFF2-40B4-BE49-F238E27FC236}">
                  <a16:creationId xmlns:a16="http://schemas.microsoft.com/office/drawing/2014/main" id="{5205AA8A-844B-8478-6DD6-2CC3DE67AFD4}"/>
                </a:ext>
              </a:extLst>
            </p:cNvPr>
            <p:cNvSpPr/>
            <p:nvPr/>
          </p:nvSpPr>
          <p:spPr bwMode="auto">
            <a:xfrm rot="16200000">
              <a:off x="7396811" y="2413422"/>
              <a:ext cx="165860" cy="906411"/>
            </a:xfrm>
            <a:prstGeom prst="down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08556" name="组合 108555">
            <a:extLst>
              <a:ext uri="{FF2B5EF4-FFF2-40B4-BE49-F238E27FC236}">
                <a16:creationId xmlns:a16="http://schemas.microsoft.com/office/drawing/2014/main" id="{2B7488E6-DBBC-C376-C5CC-2271F4380D73}"/>
              </a:ext>
            </a:extLst>
          </p:cNvPr>
          <p:cNvGrpSpPr/>
          <p:nvPr/>
        </p:nvGrpSpPr>
        <p:grpSpPr>
          <a:xfrm>
            <a:off x="2234799" y="2218873"/>
            <a:ext cx="3123633" cy="1869016"/>
            <a:chOff x="5087888" y="714376"/>
            <a:chExt cx="3123633" cy="1869016"/>
          </a:xfrm>
        </p:grpSpPr>
        <p:grpSp>
          <p:nvGrpSpPr>
            <p:cNvPr id="108557" name="组合 108556">
              <a:extLst>
                <a:ext uri="{FF2B5EF4-FFF2-40B4-BE49-F238E27FC236}">
                  <a16:creationId xmlns:a16="http://schemas.microsoft.com/office/drawing/2014/main" id="{1778C189-A8F7-4191-EC46-8801F9727558}"/>
                </a:ext>
              </a:extLst>
            </p:cNvPr>
            <p:cNvGrpSpPr/>
            <p:nvPr/>
          </p:nvGrpSpPr>
          <p:grpSpPr>
            <a:xfrm>
              <a:off x="5087888" y="714376"/>
              <a:ext cx="3123633" cy="1869016"/>
              <a:chOff x="5087888" y="714376"/>
              <a:chExt cx="3123633" cy="1869016"/>
            </a:xfrm>
          </p:grpSpPr>
          <p:sp>
            <p:nvSpPr>
              <p:cNvPr id="108559" name="矩形 108558">
                <a:extLst>
                  <a:ext uri="{FF2B5EF4-FFF2-40B4-BE49-F238E27FC236}">
                    <a16:creationId xmlns:a16="http://schemas.microsoft.com/office/drawing/2014/main" id="{2F932055-5835-B2D9-104E-822337B0B6D3}"/>
                  </a:ext>
                </a:extLst>
              </p:cNvPr>
              <p:cNvSpPr/>
              <p:nvPr/>
            </p:nvSpPr>
            <p:spPr bwMode="auto">
              <a:xfrm>
                <a:off x="5087888" y="714376"/>
                <a:ext cx="3122364" cy="1869016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VS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编译报错</a:t>
                </a:r>
                <a:endPara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其它编译器可能可以运行</a:t>
                </a:r>
              </a:p>
            </p:txBody>
          </p:sp>
          <p:pic>
            <p:nvPicPr>
              <p:cNvPr id="108560" name="图片 108559">
                <a:extLst>
                  <a:ext uri="{FF2B5EF4-FFF2-40B4-BE49-F238E27FC236}">
                    <a16:creationId xmlns:a16="http://schemas.microsoft.com/office/drawing/2014/main" id="{5FC165AB-5A01-692B-73E3-21A7EC460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88332" y="953041"/>
                <a:ext cx="2352480" cy="1647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08561" name="图片 108560">
                <a:extLst>
                  <a:ext uri="{FF2B5EF4-FFF2-40B4-BE49-F238E27FC236}">
                    <a16:creationId xmlns:a16="http://schemas.microsoft.com/office/drawing/2014/main" id="{FADE8CFD-6FF6-7051-A4EE-31958FB41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4882" y="1356472"/>
                <a:ext cx="2836639" cy="66844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08562" name="图片 108561">
                <a:extLst>
                  <a:ext uri="{FF2B5EF4-FFF2-40B4-BE49-F238E27FC236}">
                    <a16:creationId xmlns:a16="http://schemas.microsoft.com/office/drawing/2014/main" id="{83FCF83B-E2A4-CA42-C1B0-CEEF662554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8632" y="2079976"/>
                <a:ext cx="1930624" cy="5034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08563" name="矩形 108562">
                <a:extLst>
                  <a:ext uri="{FF2B5EF4-FFF2-40B4-BE49-F238E27FC236}">
                    <a16:creationId xmlns:a16="http://schemas.microsoft.com/office/drawing/2014/main" id="{7498CD6E-B968-0B0B-2948-85C2B3DF4187}"/>
                  </a:ext>
                </a:extLst>
              </p:cNvPr>
              <p:cNvSpPr/>
              <p:nvPr/>
            </p:nvSpPr>
            <p:spPr bwMode="auto">
              <a:xfrm>
                <a:off x="6274293" y="1571294"/>
                <a:ext cx="485622" cy="1666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1200" b="1" dirty="0" err="1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gcc</a:t>
                </a: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08558" name="直接箭头连接符 108557">
              <a:extLst>
                <a:ext uri="{FF2B5EF4-FFF2-40B4-BE49-F238E27FC236}">
                  <a16:creationId xmlns:a16="http://schemas.microsoft.com/office/drawing/2014/main" id="{1EBA5CEA-CC91-B952-B584-50242CBD5676}"/>
                </a:ext>
              </a:extLst>
            </p:cNvPr>
            <p:cNvCxnSpPr/>
            <p:nvPr/>
          </p:nvCxnSpPr>
          <p:spPr bwMode="auto">
            <a:xfrm flipH="1">
              <a:off x="5911973" y="1666512"/>
              <a:ext cx="48562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816</Words>
  <Application>Microsoft Office PowerPoint</Application>
  <PresentationFormat>宽屏</PresentationFormat>
  <Paragraphs>167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shenjian_tj@outlook.com</cp:lastModifiedBy>
  <cp:revision>44</cp:revision>
  <dcterms:created xsi:type="dcterms:W3CDTF">2020-08-13T13:39:53Z</dcterms:created>
  <dcterms:modified xsi:type="dcterms:W3CDTF">2026-05-14T15:23:55Z</dcterms:modified>
</cp:coreProperties>
</file>
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605" y="251460"/>
            <a:ext cx="11203940" cy="23787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35" y="127635"/>
            <a:ext cx="11962130" cy="22948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18845" y="2579370"/>
            <a:ext cx="4064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符号位：</a:t>
            </a:r>
            <a:r>
              <a:rPr lang="en-US" altLang="zh-CN" sz="2400"/>
              <a:t>0</a:t>
            </a:r>
            <a:r>
              <a:rPr lang="zh-CN" altLang="en-US" sz="2400"/>
              <a:t>为正数，</a:t>
            </a:r>
            <a:r>
              <a:rPr lang="en-US" altLang="zh-CN" sz="2400"/>
              <a:t>1</a:t>
            </a:r>
            <a:r>
              <a:rPr lang="zh-CN" altLang="en-US" sz="2400"/>
              <a:t>为负数</a:t>
            </a:r>
            <a:endParaRPr lang="zh-CN" altLang="en-US" sz="2400"/>
          </a:p>
          <a:p>
            <a:r>
              <a:rPr lang="zh-CN" altLang="en-US" sz="2400">
                <a:sym typeface="+mn-ea"/>
              </a:rPr>
              <a:t>指数位：</a:t>
            </a:r>
            <a:r>
              <a:rPr lang="en-US" altLang="zh-CN" sz="2400">
                <a:sym typeface="+mn-ea"/>
              </a:rPr>
              <a:t>8</a:t>
            </a:r>
            <a:r>
              <a:rPr lang="zh-CN" altLang="en-US" sz="2400">
                <a:sym typeface="+mn-ea"/>
              </a:rPr>
              <a:t>位，</a:t>
            </a:r>
            <a:r>
              <a:rPr lang="en-US" altLang="zh-CN" sz="2400">
                <a:sym typeface="+mn-ea"/>
              </a:rPr>
              <a:t>[-127,128]</a:t>
            </a:r>
            <a:endParaRPr lang="en-US" altLang="zh-CN" sz="2400">
              <a:sym typeface="+mn-ea"/>
            </a:endParaRPr>
          </a:p>
          <a:p>
            <a:r>
              <a:rPr lang="zh-CN" altLang="en-US" sz="2400">
                <a:sym typeface="+mn-ea"/>
              </a:rPr>
              <a:t>尾数位：存储尾数</a:t>
            </a:r>
            <a:endParaRPr lang="en-US" altLang="zh-CN" sz="2400"/>
          </a:p>
          <a:p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6096000" y="2705735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为了使指数不出现负数，设置偏移量为</a:t>
            </a:r>
            <a:r>
              <a:rPr lang="en-US" altLang="zh-CN" sz="2400"/>
              <a:t>127</a:t>
            </a:r>
            <a:endParaRPr lang="en-US" altLang="zh-CN" sz="2400"/>
          </a:p>
        </p:txBody>
      </p:sp>
      <p:sp>
        <p:nvSpPr>
          <p:cNvPr id="7" name="文本框 6"/>
          <p:cNvSpPr txBox="1"/>
          <p:nvPr/>
        </p:nvSpPr>
        <p:spPr>
          <a:xfrm>
            <a:off x="801370" y="3935730"/>
            <a:ext cx="5020945" cy="1742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十进制浮点数20.5 = 二进制10100.1</a:t>
            </a:r>
            <a:endParaRPr lang="zh-CN" altLang="en-US" sz="2400"/>
          </a:p>
          <a:p>
            <a:r>
              <a:rPr lang="zh-CN" altLang="en-US" sz="2400"/>
              <a:t>二进制10100.1 = 1.01001 * 2^4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尾数：</a:t>
            </a:r>
            <a:r>
              <a:rPr lang="en-US" altLang="zh-CN" sz="2400"/>
              <a:t>1.01001</a:t>
            </a:r>
            <a:endParaRPr lang="en-US" altLang="zh-CN" sz="2400"/>
          </a:p>
          <a:p>
            <a:r>
              <a:rPr lang="zh-CN" altLang="en-US" sz="2400"/>
              <a:t>偏移前的指数：</a:t>
            </a:r>
            <a:r>
              <a:rPr lang="en-US" altLang="zh-CN" sz="2400"/>
              <a:t>4;</a:t>
            </a:r>
            <a:r>
              <a:rPr lang="zh-CN" altLang="en-US" sz="2400"/>
              <a:t>偏移后的指数</a:t>
            </a:r>
            <a:r>
              <a:rPr lang="en-US" altLang="zh-CN" sz="2400"/>
              <a:t>:4+127</a:t>
            </a:r>
            <a:endParaRPr lang="en-US" altLang="zh-CN" sz="2400"/>
          </a:p>
          <a:p>
            <a:r>
              <a:rPr lang="zh-CN" altLang="en-US" sz="2400"/>
              <a:t>隐藏高位，符号位为</a:t>
            </a:r>
            <a:r>
              <a:rPr lang="en-US" altLang="zh-CN" sz="2400"/>
              <a:t>0</a:t>
            </a:r>
            <a:endParaRPr lang="zh-CN" altLang="en-US" sz="2400"/>
          </a:p>
          <a:p>
            <a:endParaRPr lang="zh-CN" altLang="en-US" sz="2400"/>
          </a:p>
          <a:p>
            <a:endParaRPr lang="en-US" altLang="zh-CN" sz="2400"/>
          </a:p>
          <a:p>
            <a:endParaRPr lang="en-US" altLang="zh-CN" sz="2400"/>
          </a:p>
          <a:p>
            <a:endParaRPr lang="zh-CN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765" y="770255"/>
            <a:ext cx="10508615" cy="9455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33095" y="18669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float</a:t>
            </a:r>
            <a:r>
              <a:rPr lang="zh-CN" altLang="en-US" sz="3200"/>
              <a:t>取值范围</a:t>
            </a:r>
            <a:endParaRPr lang="zh-CN" altLang="en-US" sz="3200"/>
          </a:p>
        </p:txBody>
      </p:sp>
      <p:sp>
        <p:nvSpPr>
          <p:cNvPr id="4" name="文本框 3"/>
          <p:cNvSpPr txBox="1"/>
          <p:nvPr/>
        </p:nvSpPr>
        <p:spPr>
          <a:xfrm>
            <a:off x="476250" y="1588135"/>
            <a:ext cx="9410065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概念1: </a:t>
            </a:r>
            <a:r>
              <a:rPr lang="en-US" altLang="zh-CN" sz="3200"/>
              <a:t>normal number(</a:t>
            </a:r>
            <a:r>
              <a:rPr lang="zh-CN" altLang="en-US" sz="3200"/>
              <a:t>规格数) ：尾数隐藏的高位为</a:t>
            </a:r>
            <a:r>
              <a:rPr lang="en-US" altLang="zh-CN" sz="3200"/>
              <a:t>1</a:t>
            </a:r>
            <a:r>
              <a:rPr lang="zh-CN" altLang="en-US" sz="3200"/>
              <a:t>的数</a:t>
            </a:r>
            <a:endParaRPr lang="zh-CN" altLang="en-US" sz="3200"/>
          </a:p>
          <a:p>
            <a:endParaRPr lang="zh-CN" altLang="en-US" sz="3200"/>
          </a:p>
          <a:p>
            <a:r>
              <a:rPr lang="en-US" altLang="zh-CN" sz="3200"/>
              <a:t>subnormal number(</a:t>
            </a:r>
            <a:r>
              <a:rPr lang="zh-CN" altLang="en-US" sz="3200"/>
              <a:t>非规格数)：</a:t>
            </a:r>
            <a:r>
              <a:rPr lang="zh-CN" altLang="en-US" sz="3200">
                <a:sym typeface="+mn-ea"/>
              </a:rPr>
              <a:t>尾数隐藏的高位为</a:t>
            </a:r>
            <a:r>
              <a:rPr lang="en-US" altLang="zh-CN" sz="3200">
                <a:sym typeface="+mn-ea"/>
              </a:rPr>
              <a:t>0</a:t>
            </a:r>
            <a:r>
              <a:rPr lang="zh-CN" altLang="en-US" sz="3200">
                <a:sym typeface="+mn-ea"/>
              </a:rPr>
              <a:t>的数，</a:t>
            </a:r>
            <a:r>
              <a:rPr lang="en-US" altLang="zh-CN" sz="3200">
                <a:sym typeface="+mn-ea"/>
              </a:rPr>
              <a:t>IEEE754</a:t>
            </a:r>
            <a:r>
              <a:rPr lang="zh-CN" altLang="en-US" sz="3200"/>
              <a:t>规定: 如果将指数位全部填充为0, 则表示这个数是个</a:t>
            </a:r>
            <a:r>
              <a:rPr lang="en-US" altLang="zh-CN" sz="3200"/>
              <a:t>subnormal number</a:t>
            </a:r>
            <a:endParaRPr lang="en-US" altLang="zh-CN" sz="3200"/>
          </a:p>
          <a:p>
            <a:endParaRPr lang="zh-CN" altLang="en-US" sz="3200"/>
          </a:p>
          <a:p>
            <a:endParaRPr lang="zh-CN" altLang="en-US" sz="3200"/>
          </a:p>
        </p:txBody>
      </p:sp>
      <p:sp>
        <p:nvSpPr>
          <p:cNvPr id="5" name="文本框 4"/>
          <p:cNvSpPr txBox="1"/>
          <p:nvPr/>
        </p:nvSpPr>
        <p:spPr>
          <a:xfrm>
            <a:off x="405765" y="4754880"/>
            <a:ext cx="1028065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概念2: </a:t>
            </a:r>
            <a:r>
              <a:rPr lang="en-US" altLang="zh-CN" sz="3200"/>
              <a:t>non-number(</a:t>
            </a:r>
            <a:r>
              <a:rPr lang="zh-CN" altLang="en-US" sz="3200"/>
              <a:t>特殊数)：当指数位全部被1填充, 即指数位表示的值为255时, 用于表示这个浮点数处在一种非正常数(</a:t>
            </a:r>
            <a:r>
              <a:rPr lang="en-US" altLang="zh-CN" sz="3200"/>
              <a:t>non-number)</a:t>
            </a:r>
            <a:r>
              <a:rPr lang="zh-CN" altLang="en-US" sz="3200"/>
              <a:t>的状态: 即这个数可能是±</a:t>
            </a:r>
            <a:r>
              <a:rPr lang="en-US" altLang="zh-CN" sz="3200"/>
              <a:t>infinity</a:t>
            </a:r>
            <a:r>
              <a:rPr lang="zh-CN" altLang="en-US" sz="3200"/>
              <a:t>或</a:t>
            </a:r>
            <a:r>
              <a:rPr lang="en-US" altLang="zh-CN" sz="3200"/>
              <a:t>NaN.</a:t>
            </a:r>
            <a:endParaRPr lang="en-US" altLang="zh-CN" sz="3200"/>
          </a:p>
          <a:p>
            <a:endParaRPr lang="en-US" altLang="zh-CN" sz="3200"/>
          </a:p>
          <a:p>
            <a:endParaRPr lang="en-US" altLang="zh-CN" sz="3200"/>
          </a:p>
          <a:p>
            <a:endParaRPr lang="zh-CN" altLang="en-US"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70" y="272415"/>
            <a:ext cx="11647170" cy="23755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57810" y="2890520"/>
            <a:ext cx="77724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实际上32位浮点数的指数部分只能取到只能取到[-126, 127]</a:t>
            </a:r>
            <a:endParaRPr lang="zh-CN" altLang="en-US"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73430" y="171450"/>
            <a:ext cx="9815830" cy="7477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再来看看尾数: 对于</a:t>
            </a:r>
            <a:r>
              <a:rPr lang="en-US" altLang="zh-CN" sz="3200"/>
              <a:t>normal number, </a:t>
            </a:r>
            <a:r>
              <a:rPr lang="zh-CN" altLang="en-US" sz="3200"/>
              <a:t>尾数前隐藏的整数部分始终保持为1.</a:t>
            </a:r>
            <a:endParaRPr lang="zh-CN" altLang="en-US" sz="3200"/>
          </a:p>
          <a:p>
            <a:endParaRPr lang="en-US" altLang="zh-CN" sz="3200"/>
          </a:p>
          <a:p>
            <a:r>
              <a:rPr lang="zh-CN" altLang="en-US" sz="3200"/>
              <a:t>所以尾数(含隐藏的整数部分)所表示的值的范围其实是 [1.00...00, 1.11...11],</a:t>
            </a:r>
            <a:endParaRPr lang="zh-CN" altLang="en-US" sz="3200"/>
          </a:p>
          <a:p>
            <a:endParaRPr lang="en-US" altLang="zh-CN" sz="3200"/>
          </a:p>
          <a:p>
            <a:r>
              <a:rPr lang="zh-CN" altLang="en-US" sz="3200"/>
              <a:t>这个二进制数, 约等于十进制的[1, 2), 因为1.11..11非常逼近十进制的2</a:t>
            </a:r>
            <a:endParaRPr lang="zh-CN" altLang="en-US" sz="3200"/>
          </a:p>
          <a:p>
            <a:endParaRPr lang="en-US" altLang="zh-CN" sz="3200"/>
          </a:p>
          <a:p>
            <a:r>
              <a:rPr lang="zh-CN" altLang="en-US" sz="3200"/>
              <a:t>现在我们知道, 对于32位</a:t>
            </a:r>
            <a:r>
              <a:rPr lang="en-US" altLang="zh-CN" sz="3200"/>
              <a:t>float</a:t>
            </a:r>
            <a:r>
              <a:rPr lang="zh-CN" altLang="en-US" sz="3200"/>
              <a:t>而言: 尾数(含隐藏的整数部分)的可取值为: [1 ,2), 指数位可取值[-126, 127], 且浮点数可正可负, 根据运算规则, 就不难算出32位</a:t>
            </a:r>
            <a:r>
              <a:rPr lang="en-US" altLang="zh-CN" sz="3200"/>
              <a:t>float</a:t>
            </a:r>
            <a:r>
              <a:rPr lang="zh-CN" altLang="en-US" sz="3200"/>
              <a:t>的取值范围了:</a:t>
            </a:r>
            <a:endParaRPr lang="zh-CN" altLang="en-US" sz="3200"/>
          </a:p>
          <a:p>
            <a:endParaRPr lang="en-US" altLang="zh-CN" sz="3200"/>
          </a:p>
          <a:p>
            <a:endParaRPr lang="zh-CN" altLang="en-US"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795" y="514985"/>
            <a:ext cx="10616565" cy="38722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894080" y="291465"/>
            <a:ext cx="7889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为什么说32位浮点数的精度是"7位有效数"</a:t>
            </a:r>
            <a:endParaRPr lang="zh-CN" altLang="en-US" sz="3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655" y="1516380"/>
            <a:ext cx="9142730" cy="36487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435" y="236855"/>
            <a:ext cx="5376545" cy="41008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615305" y="981075"/>
            <a:ext cx="6003925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0.0084</a:t>
            </a:r>
            <a:endParaRPr lang="en-US" altLang="zh-CN" sz="3200"/>
          </a:p>
          <a:p>
            <a:r>
              <a:rPr lang="en-US" altLang="zh-CN" sz="3200"/>
              <a:t>0.0096</a:t>
            </a:r>
            <a:endParaRPr lang="en-US" altLang="zh-CN" sz="3200"/>
          </a:p>
          <a:p>
            <a:r>
              <a:rPr lang="en-US" altLang="zh-CN" sz="3200"/>
              <a:t>0.0108</a:t>
            </a:r>
            <a:endParaRPr lang="en-US" altLang="zh-CN" sz="3200"/>
          </a:p>
          <a:p>
            <a:r>
              <a:rPr lang="en-US" altLang="zh-CN" sz="3200"/>
              <a:t>0.0120</a:t>
            </a:r>
            <a:endParaRPr lang="en-US" altLang="zh-CN" sz="3200"/>
          </a:p>
          <a:p>
            <a:r>
              <a:rPr lang="en-US" altLang="zh-CN" sz="3200"/>
              <a:t>0.0132</a:t>
            </a:r>
            <a:endParaRPr lang="en-US" altLang="zh-CN" sz="3200"/>
          </a:p>
          <a:p>
            <a:endParaRPr lang="en-US" altLang="zh-CN" sz="3200"/>
          </a:p>
          <a:p>
            <a:r>
              <a:rPr lang="en-US" altLang="zh-CN" sz="3200"/>
              <a:t>0.010x-&gt;0.011x(</a:t>
            </a:r>
            <a:r>
              <a:rPr lang="zh-CN" altLang="en-US" sz="3200"/>
              <a:t>无法取到</a:t>
            </a:r>
            <a:r>
              <a:rPr lang="en-US" altLang="zh-CN" sz="3200"/>
              <a:t>)</a:t>
            </a:r>
            <a:endParaRPr lang="en-US" altLang="zh-CN" sz="3200"/>
          </a:p>
          <a:p>
            <a:r>
              <a:rPr lang="en-US" altLang="zh-CN" sz="3200"/>
              <a:t>0.00x,0.01x.0.02x.......</a:t>
            </a:r>
            <a:r>
              <a:rPr lang="zh-CN" altLang="en-US" sz="3200"/>
              <a:t>（可以覆盖）</a:t>
            </a:r>
            <a:endParaRPr lang="zh-CN" altLang="en-US" sz="3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90830" y="421005"/>
            <a:ext cx="11392535" cy="6000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32位浮点数能表示的最小规格数是 :</a:t>
            </a:r>
            <a:endParaRPr lang="zh-CN" altLang="en-US" sz="3200"/>
          </a:p>
          <a:p>
            <a:endParaRPr lang="en-US" altLang="zh-CN" sz="3200"/>
          </a:p>
          <a:p>
            <a:r>
              <a:rPr lang="zh-CN" altLang="en-US" sz="3200"/>
              <a:t>0 00000001 00000000000000000000000 (二进制)</a:t>
            </a:r>
            <a:endParaRPr lang="zh-CN" altLang="en-US" sz="3200"/>
          </a:p>
          <a:p>
            <a:endParaRPr lang="zh-CN" altLang="en-US" sz="3200"/>
          </a:p>
          <a:p>
            <a:r>
              <a:rPr lang="zh-CN" altLang="en-US" sz="3200"/>
              <a:t>这样一步一步的往下走, </a:t>
            </a:r>
            <a:r>
              <a:rPr lang="en-US" altLang="zh-CN" sz="3200"/>
              <a:t>2^23 -1 </a:t>
            </a:r>
            <a:r>
              <a:rPr lang="zh-CN" altLang="en-US" sz="3200"/>
              <a:t>步之后, 我们将指向这个数:</a:t>
            </a:r>
            <a:endParaRPr lang="zh-CN" altLang="en-US" sz="3200"/>
          </a:p>
          <a:p>
            <a:endParaRPr lang="en-US" altLang="zh-CN" sz="3200"/>
          </a:p>
          <a:p>
            <a:r>
              <a:rPr lang="zh-CN" altLang="en-US" sz="3200"/>
              <a:t>0 00000001 11111111111111111111111(二进制)</a:t>
            </a:r>
            <a:endParaRPr lang="zh-CN" altLang="en-US" sz="3200"/>
          </a:p>
          <a:p>
            <a:endParaRPr lang="en-US" altLang="zh-CN" sz="3200"/>
          </a:p>
          <a:p>
            <a:r>
              <a:rPr lang="zh-CN" altLang="en-US" sz="3200"/>
              <a:t>再走一步, 也就是2^23步之后, 我们将指向这个数:</a:t>
            </a:r>
            <a:endParaRPr lang="zh-CN" altLang="en-US" sz="3200"/>
          </a:p>
          <a:p>
            <a:endParaRPr lang="en-US" altLang="zh-CN" sz="3200"/>
          </a:p>
          <a:p>
            <a:r>
              <a:rPr lang="zh-CN" altLang="en-US" sz="3200"/>
              <a:t>0 00000010 00000000000000000000000(二进制)</a:t>
            </a:r>
            <a:endParaRPr lang="zh-CN" altLang="en-US" sz="3200"/>
          </a:p>
          <a:p>
            <a:r>
              <a:rPr lang="zh-CN" altLang="en-US" sz="3200"/>
              <a:t>间隔 = 差值 / 移动次数 = (终点对应的值 - 起点对应的值) / 2^23</a:t>
            </a:r>
            <a:endParaRPr lang="zh-CN" altLang="en-US" sz="3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735" y="393700"/>
            <a:ext cx="3305175" cy="25336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35" y="3562985"/>
            <a:ext cx="3295650" cy="11620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93040" y="4851400"/>
            <a:ext cx="12200255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ym typeface="+mn-ea"/>
              </a:rPr>
              <a:t>间隔 = 差值 / 移动次数 = (终点对应的值 - 起点对应的值) / 2^23</a:t>
            </a:r>
            <a:endParaRPr lang="zh-CN" altLang="en-US" sz="3200">
              <a:sym typeface="+mn-ea"/>
            </a:endParaRPr>
          </a:p>
          <a:p>
            <a:r>
              <a:rPr lang="zh-CN" altLang="en-US" sz="3200"/>
              <a:t>起点和终点差距每次都在增大，所以间隔也在增大，间隔分布不均匀</a:t>
            </a:r>
            <a:endParaRPr lang="zh-CN" altLang="en-US" sz="3200"/>
          </a:p>
          <a:p>
            <a:endParaRPr lang="zh-CN" altLang="en-US" sz="32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48690"/>
            <a:ext cx="4114800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8802370" cy="45561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5" y="4502150"/>
            <a:ext cx="9416415" cy="609600"/>
          </a:xfrm>
          <a:prstGeom prst="rect">
            <a:avLst/>
          </a:prstGeom>
        </p:spPr>
      </p:pic>
      <p:cxnSp>
        <p:nvCxnSpPr>
          <p:cNvPr id="4" name="直接箭头连接符 3"/>
          <p:cNvCxnSpPr/>
          <p:nvPr/>
        </p:nvCxnSpPr>
        <p:spPr>
          <a:xfrm flipV="1">
            <a:off x="2247265" y="3319780"/>
            <a:ext cx="306070" cy="120015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25" y="0"/>
            <a:ext cx="8989060" cy="64496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4465" y="1905"/>
            <a:ext cx="6567805" cy="66370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41325" y="345440"/>
            <a:ext cx="10671810" cy="69856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另一种理解方式：尾数有</a:t>
            </a:r>
            <a:r>
              <a:rPr lang="en-US" altLang="zh-CN" sz="3200"/>
              <a:t>24</a:t>
            </a:r>
            <a:r>
              <a:rPr lang="zh-CN" altLang="en-US" sz="3200"/>
              <a:t>位（</a:t>
            </a:r>
            <a:r>
              <a:rPr lang="en-US" altLang="zh-CN" sz="3200"/>
              <a:t>23</a:t>
            </a:r>
            <a:r>
              <a:rPr lang="zh-CN" altLang="en-US" sz="3200"/>
              <a:t>个位数为加隐藏高位）</a:t>
            </a:r>
            <a:endParaRPr lang="zh-CN" altLang="en-US" sz="3200"/>
          </a:p>
          <a:p>
            <a:r>
              <a:rPr lang="zh-CN" altLang="en-US" sz="3200"/>
              <a:t>共包含2^24种状态, 或者说能精确记录2^24种不同的状态:</a:t>
            </a:r>
            <a:endParaRPr lang="zh-CN" altLang="en-US" sz="3200"/>
          </a:p>
          <a:p>
            <a:endParaRPr lang="zh-CN" altLang="en-US" sz="3200"/>
          </a:p>
          <a:p>
            <a:r>
              <a:rPr lang="zh-CN" altLang="en-US" sz="3200"/>
              <a:t>而2^24 = 16 777 216(十进制), 即32位浮点数容器最多只能存储16 777 216(十进制)种状态</a:t>
            </a:r>
            <a:endParaRPr lang="en-US" altLang="zh-CN" sz="3200"/>
          </a:p>
          <a:p>
            <a:r>
              <a:rPr lang="zh-CN" altLang="en-US" sz="3200"/>
              <a:t>16 777 216 是个8位数</a:t>
            </a:r>
            <a:endParaRPr lang="zh-CN" altLang="en-US" sz="3200"/>
          </a:p>
          <a:p>
            <a:endParaRPr lang="en-US" altLang="zh-CN" sz="3200"/>
          </a:p>
          <a:p>
            <a:r>
              <a:rPr lang="zh-CN" altLang="en-US" sz="3200"/>
              <a:t>所以32位浮点数的精度最多是7位十进制(0 - 9 999 999), 共10 000 000种状态</a:t>
            </a:r>
            <a:endParaRPr lang="zh-CN" altLang="en-US" sz="3200"/>
          </a:p>
          <a:p>
            <a:endParaRPr lang="en-US" altLang="zh-CN" sz="3200"/>
          </a:p>
          <a:p>
            <a:r>
              <a:rPr lang="zh-CN" altLang="en-US" sz="3200"/>
              <a:t>如果32位浮点数的精度是8位十进制的话(0 - 99 999 999), 这一共是100 000 000种状态, 大于了32位浮点数能存储的状态上限16 777 216...所以说精度到不了8位十进制数.</a:t>
            </a:r>
            <a:endParaRPr lang="zh-CN" altLang="en-US" sz="3200"/>
          </a:p>
          <a:p>
            <a:endParaRPr lang="en-US" altLang="zh-CN" sz="3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4960" y="353060"/>
            <a:ext cx="12630150" cy="4965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857740" cy="16090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80" y="1609090"/>
            <a:ext cx="7927340" cy="42570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805" y="5866130"/>
            <a:ext cx="59817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735" y="0"/>
            <a:ext cx="7941945" cy="58045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290" y="247650"/>
            <a:ext cx="5638800" cy="50482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305" y="0"/>
            <a:ext cx="10870565" cy="623443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05" y="107950"/>
            <a:ext cx="6534150" cy="3429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955" y="1751965"/>
            <a:ext cx="5248275" cy="21240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955" y="351790"/>
            <a:ext cx="5545455" cy="12585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9055" y="4302760"/>
            <a:ext cx="1133983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非规格数 "一点点逐渐变大, 最后其最大值平稳的衔接上规格数的最小值", 这种特性在</a:t>
            </a:r>
            <a:r>
              <a:rPr lang="en-US" altLang="zh-CN" sz="2800"/>
              <a:t>ieee754</a:t>
            </a:r>
            <a:r>
              <a:rPr lang="zh-CN" altLang="en-US" sz="2800"/>
              <a:t>中被叫做逐渐溢出(</a:t>
            </a:r>
            <a:r>
              <a:rPr lang="en-US" altLang="zh-CN" sz="2800"/>
              <a:t>gradual underflow)</a:t>
            </a:r>
            <a:endParaRPr lang="zh-CN" altLang="en-US"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1422</Words>
  <Application>WPS 演示</Application>
  <PresentationFormat>宽屏</PresentationFormat>
  <Paragraphs>84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shiqi</dc:creator>
  <cp:lastModifiedBy>枫江叶</cp:lastModifiedBy>
  <cp:revision>17</cp:revision>
  <dcterms:created xsi:type="dcterms:W3CDTF">2023-08-09T12:44:00Z</dcterms:created>
  <dcterms:modified xsi:type="dcterms:W3CDTF">2026-04-25T01:19:09Z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5F9F304A9EB348C2A2E541927A1FE078_12</vt:lpwstr>
  </property>
</Properties>
</file>
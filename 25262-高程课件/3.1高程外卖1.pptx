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60" r:id="rId4"/>
    <p:sldId id="261" r:id="rId5"/>
    <p:sldId id="263" r:id="rId6"/>
    <p:sldId id="258" r:id="rId7"/>
    <p:sldId id="262" r:id="rId8"/>
    <p:sldId id="267" r:id="rId9"/>
    <p:sldId id="268" r:id="rId10"/>
    <p:sldId id="272" r:id="rId11"/>
    <p:sldId id="270" r:id="rId12"/>
    <p:sldId id="274" r:id="rId13"/>
    <p:sldId id="271" r:id="rId14"/>
    <p:sldId id="264" r:id="rId15"/>
    <p:sldId id="273" r:id="rId16"/>
    <p:sldId id="265" r:id="rId17"/>
    <p:sldId id="269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8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51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47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62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2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18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04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01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74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36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58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72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4F23029-6F29-40A3-82CA-3670305FB36F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4CB0751-5186-44B3-BA61-782ABA3FF8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787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FD749-6DB1-426B-BFFE-0106A098B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400" b="1" dirty="0"/>
              <a:t>程序设计的逻辑结构优化</a:t>
            </a:r>
            <a:br>
              <a:rPr lang="en-US" altLang="zh-CN" sz="4400" b="1" dirty="0"/>
            </a:br>
            <a:r>
              <a:rPr lang="zh-CN" altLang="en-US" sz="4400" b="1" dirty="0"/>
              <a:t>与技巧分析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6D6EED-6717-4AED-8807-2A2DD6B212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—— </a:t>
            </a:r>
            <a:r>
              <a:rPr lang="zh-CN" altLang="en-US" sz="2000" dirty="0"/>
              <a:t>从作业案例入手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56A429-5C1D-4262-A0D8-5A555B3165E6}"/>
              </a:ext>
            </a:extLst>
          </p:cNvPr>
          <p:cNvSpPr txBox="1"/>
          <p:nvPr/>
        </p:nvSpPr>
        <p:spPr>
          <a:xfrm>
            <a:off x="8070542" y="4805463"/>
            <a:ext cx="338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</a:rPr>
              <a:t>计算机科学与技术学院  陈奕名</a:t>
            </a:r>
            <a:r>
              <a:rPr lang="ja-JP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494513-0473-4569-97F1-2F89D914DAD9}"/>
              </a:ext>
            </a:extLst>
          </p:cNvPr>
          <p:cNvSpPr txBox="1"/>
          <p:nvPr/>
        </p:nvSpPr>
        <p:spPr>
          <a:xfrm>
            <a:off x="8038115" y="5174795"/>
            <a:ext cx="3373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zh-CN" sz="1100" kern="1200" dirty="0">
                <a:solidFill>
                  <a:srgbClr val="FFFFFF"/>
                </a:solidFill>
                <a:effectLst/>
                <a:latin typeface="Gill Sans MT" panose="020B0502020104020203" pitchFamily="34" charset="0"/>
                <a:ea typeface="华文中宋" panose="02010600040101010101" pitchFamily="2" charset="-122"/>
                <a:cs typeface="+mn-cs"/>
              </a:rPr>
              <a:t>「</a:t>
            </a:r>
            <a:r>
              <a:rPr lang="zh-CN" altLang="zh-CN" sz="1100" kern="1200" dirty="0">
                <a:solidFill>
                  <a:srgbClr val="FFFF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高程</a:t>
            </a:r>
            <a:r>
              <a:rPr lang="ja-JP" altLang="zh-CN" sz="1100" kern="1200" dirty="0">
                <a:solidFill>
                  <a:srgbClr val="FFFF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肯定感爆上げちゅ</a:t>
            </a:r>
            <a:r>
              <a:rPr lang="en-US" altLang="zh-CN" sz="1100" kern="1200" dirty="0">
                <a:solidFill>
                  <a:srgbClr val="FFFF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~</a:t>
            </a:r>
            <a:r>
              <a:rPr lang="ja-JP" altLang="zh-CN" sz="1100" kern="1200" dirty="0">
                <a:solidFill>
                  <a:srgbClr val="FFFFFF"/>
                </a:solidFill>
                <a:effectLst/>
                <a:latin typeface="Gill Sans MT" panose="020B0502020104020203" pitchFamily="34" charset="0"/>
                <a:ea typeface="Gill Sans MT" panose="020B0502020104020203" pitchFamily="34" charset="0"/>
                <a:cs typeface="+mn-cs"/>
              </a:rPr>
              <a:t>↑↑</a:t>
            </a:r>
            <a:r>
              <a:rPr lang="ja-JP" altLang="zh-CN" sz="1100" kern="1200" dirty="0">
                <a:solidFill>
                  <a:srgbClr val="FFFF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しゅきしゅき</a:t>
            </a:r>
            <a:r>
              <a:rPr lang="ja-JP" altLang="en-US" sz="1100" kern="1200" dirty="0">
                <a:solidFill>
                  <a:srgbClr val="FFFF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クラス</a:t>
            </a:r>
            <a:r>
              <a:rPr lang="zh-CN" altLang="zh-CN" sz="1100" kern="1200" dirty="0">
                <a:solidFill>
                  <a:srgbClr val="FFFFFF"/>
                </a:solidFill>
                <a:effectLst/>
                <a:latin typeface="Gill Sans MT" panose="020B0502020104020203" pitchFamily="34" charset="0"/>
                <a:ea typeface="华文中宋" panose="02010600040101010101" pitchFamily="2" charset="-122"/>
                <a:cs typeface="+mn-cs"/>
              </a:rPr>
              <a:t>」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60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0EE02-2A7D-4B4D-93FD-51F08ED8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右侧为某同学的作业节选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结构略有混乱，导致调试时出现困难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937A07-CFAB-413F-BD3D-B2BCC51F6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221" y="2034399"/>
            <a:ext cx="5495208" cy="373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45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0EE02-2A7D-4B4D-93FD-51F08ED8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29655"/>
            <a:ext cx="6455147" cy="685920"/>
          </a:xfrm>
        </p:spPr>
        <p:txBody>
          <a:bodyPr anchor="t"/>
          <a:lstStyle/>
          <a:p>
            <a:r>
              <a:rPr lang="zh-CN" altLang="en-US" dirty="0"/>
              <a:t>以题目“蔡勒公式”为例，剖析输入正确性判断的逻辑结构。</a:t>
            </a:r>
            <a:endParaRPr lang="en-US" altLang="zh-CN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069A9F3-38A8-46F6-9AA8-CD9DEA532CD9}"/>
              </a:ext>
            </a:extLst>
          </p:cNvPr>
          <p:cNvSpPr txBox="1">
            <a:spLocks/>
          </p:cNvSpPr>
          <p:nvPr/>
        </p:nvSpPr>
        <p:spPr>
          <a:xfrm>
            <a:off x="581192" y="3015574"/>
            <a:ext cx="10689923" cy="1219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带有正确性判断的输入是一个“根据条件退出”的循环，一般选用 </a:t>
            </a:r>
            <a:r>
              <a:rPr lang="en-US" altLang="zh-CN" dirty="0"/>
              <a:t>while </a:t>
            </a:r>
            <a:r>
              <a:rPr lang="zh-CN" altLang="en-US" dirty="0"/>
              <a:t>或 </a:t>
            </a:r>
            <a:r>
              <a:rPr lang="en-US" altLang="zh-CN" dirty="0"/>
              <a:t>do-while </a:t>
            </a:r>
            <a:r>
              <a:rPr lang="zh-CN" altLang="en-US" dirty="0"/>
              <a:t>循环。然而退出条件比较复杂的情况下，更好的选择是编写一个“死循环”，再在循环内部根据条件执行 </a:t>
            </a:r>
            <a:r>
              <a:rPr lang="en-US" altLang="zh-CN" dirty="0"/>
              <a:t>break </a:t>
            </a:r>
            <a:r>
              <a:rPr lang="zh-CN" altLang="en-US" dirty="0"/>
              <a:t>语句，实现条件退出。这种编写方式能够更清晰地表现循环在哪些情况下中止。</a:t>
            </a:r>
            <a:endParaRPr lang="en-US" altLang="zh-CN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EA1412B-F2A2-4B02-B066-5D1CA3C34768}"/>
              </a:ext>
            </a:extLst>
          </p:cNvPr>
          <p:cNvSpPr txBox="1">
            <a:spLocks/>
          </p:cNvSpPr>
          <p:nvPr/>
        </p:nvSpPr>
        <p:spPr>
          <a:xfrm>
            <a:off x="581191" y="4234773"/>
            <a:ext cx="10689923" cy="1219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分析循环的“核心”，即在循环中程序要反复执行的“任务”，在此处为“输入”。确定程序“核心”后，尽量只在循环内编写</a:t>
            </a:r>
            <a:r>
              <a:rPr lang="zh-CN" altLang="en-US" sz="2800" b="1" dirty="0"/>
              <a:t>一次</a:t>
            </a:r>
            <a:r>
              <a:rPr lang="zh-CN" altLang="en-US" dirty="0"/>
              <a:t>该代码段，将该代码段放在循环最底层。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32A8651-1EC6-4A41-92EC-A1480A9C8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93" y="5190738"/>
            <a:ext cx="3696216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3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0EE02-2A7D-4B4D-93FD-51F08ED8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29653"/>
            <a:ext cx="4555012" cy="2637937"/>
          </a:xfrm>
        </p:spPr>
        <p:txBody>
          <a:bodyPr anchor="t">
            <a:normAutofit/>
          </a:bodyPr>
          <a:lstStyle/>
          <a:p>
            <a:r>
              <a:rPr lang="zh-CN" altLang="en-US" dirty="0"/>
              <a:t>然后需要根据输入的内容判断：是否重新输入？是否确认输入进行下一步计算？</a:t>
            </a:r>
            <a:endParaRPr lang="en-US" altLang="zh-CN" dirty="0"/>
          </a:p>
          <a:p>
            <a:r>
              <a:rPr lang="zh-CN" altLang="en-US" dirty="0"/>
              <a:t>如果需要重新输入，则通过 </a:t>
            </a:r>
            <a:r>
              <a:rPr lang="en-US" altLang="zh-CN" dirty="0"/>
              <a:t>continue </a:t>
            </a:r>
            <a:r>
              <a:rPr lang="zh-CN" altLang="en-US" dirty="0"/>
              <a:t>语句继续循环。</a:t>
            </a:r>
            <a:endParaRPr lang="en-US" altLang="zh-CN" dirty="0"/>
          </a:p>
          <a:p>
            <a:r>
              <a:rPr lang="zh-CN" altLang="en-US" dirty="0"/>
              <a:t>如果确认输入进行下一步，则通过 </a:t>
            </a:r>
            <a:r>
              <a:rPr lang="en-US" altLang="zh-CN" dirty="0"/>
              <a:t>break </a:t>
            </a:r>
            <a:r>
              <a:rPr lang="zh-CN" altLang="en-US" dirty="0"/>
              <a:t>退出循环。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C07596-484E-4B49-AC02-F66098232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236" y="1952916"/>
            <a:ext cx="5582429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2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20A8C-1679-47EE-8FF7-7BEEB581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A36B0-EF6D-439B-83BB-2BAC858D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顺带一提的：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35AA03-87A0-4CD0-A4F7-730DCFA60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841" y="1994206"/>
            <a:ext cx="5448300" cy="819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589CD8-E439-4B7F-A33E-C90ADD517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841" y="2939711"/>
            <a:ext cx="3086531" cy="6763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716647E-6FBD-4E48-9EE1-BC9D1B5F9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841" y="3802370"/>
            <a:ext cx="6897063" cy="156231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CE9B348-397C-4E13-BC25-668D676F8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57" y="2403781"/>
            <a:ext cx="2715004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0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80EE02-2A7D-4B4D-93FD-51F08ED8E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右侧为某位同学的作业（求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en-US" dirty="0"/>
                  <a:t>程序功能正常，输出比对没有错误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然而，有一定量重复代码</a:t>
                </a:r>
                <a:endParaRPr lang="en-US" altLang="zh-CN" dirty="0"/>
              </a:p>
              <a:p>
                <a:r>
                  <a:rPr lang="zh-CN" altLang="en-US" dirty="0"/>
                  <a:t>通过观察发现，两部分重复代码中，</a:t>
                </a:r>
                <a:endParaRPr lang="en-US" altLang="zh-CN" dirty="0"/>
              </a:p>
              <a:p>
                <a:pPr marL="324000" lvl="1" indent="0">
                  <a:buNone/>
                </a:pPr>
                <a:r>
                  <a:rPr lang="zh-CN" altLang="en-US" sz="1800" dirty="0"/>
                  <a:t>有关 </a:t>
                </a:r>
                <a:r>
                  <a:rPr lang="en-US" altLang="zh-CN" sz="1800" dirty="0"/>
                  <a:t>term </a:t>
                </a:r>
                <a:r>
                  <a:rPr lang="zh-CN" altLang="en-US" sz="1800" dirty="0"/>
                  <a:t>的操作只有正负号的区别</a:t>
                </a:r>
                <a:endParaRPr lang="en-US" altLang="zh-CN" sz="1800" dirty="0"/>
              </a:p>
              <a:p>
                <a:pPr marL="324000" lvl="1" indent="0">
                  <a:buNone/>
                </a:pPr>
                <a:r>
                  <a:rPr lang="zh-CN" altLang="en-US" sz="1800" dirty="0"/>
                  <a:t>因此可以借助变量减少重复代码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980EE02-2A7D-4B4D-93FD-51F08ED8E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F94645D-C037-499F-A531-AC423FE53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11"/>
          <a:stretch/>
        </p:blipFill>
        <p:spPr bwMode="auto">
          <a:xfrm>
            <a:off x="5882397" y="2180496"/>
            <a:ext cx="4303713" cy="412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2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0EE02-2A7D-4B4D-93FD-51F08ED8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引入临时变量 </a:t>
            </a:r>
            <a:r>
              <a:rPr lang="en-US" altLang="zh-CN" dirty="0" err="1"/>
              <a:t>absterm</a:t>
            </a:r>
            <a:r>
              <a:rPr lang="en-US" altLang="zh-CN" dirty="0"/>
              <a:t> </a:t>
            </a:r>
            <a:r>
              <a:rPr lang="zh-CN" altLang="en-US" dirty="0"/>
              <a:t>后，避免了重复代码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97E6EE-4D4A-44F8-8FFE-AF84CB12B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799" y="2180496"/>
            <a:ext cx="5249008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7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07969-5340-42D0-A2A0-69FCA7CF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7770D-4F48-48AA-AE2B-5AE9D38EF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7200936" cy="3678303"/>
          </a:xfrm>
        </p:spPr>
        <p:txBody>
          <a:bodyPr/>
          <a:lstStyle/>
          <a:p>
            <a:r>
              <a:rPr lang="zh-CN" altLang="en-US" dirty="0"/>
              <a:t>当 </a:t>
            </a:r>
            <a:r>
              <a:rPr lang="en-US" altLang="zh-CN" dirty="0"/>
              <a:t>term </a:t>
            </a:r>
            <a:r>
              <a:rPr lang="zh-CN" altLang="en-US" dirty="0"/>
              <a:t>和 </a:t>
            </a:r>
            <a:r>
              <a:rPr lang="en-US" altLang="zh-CN" dirty="0"/>
              <a:t>x </a:t>
            </a:r>
            <a:r>
              <a:rPr lang="zh-CN" altLang="en-US" dirty="0"/>
              <a:t>充分大时，有可能导致先计算的 </a:t>
            </a:r>
            <a:r>
              <a:rPr lang="en-US" altLang="zh-CN" dirty="0"/>
              <a:t>term * x </a:t>
            </a:r>
            <a:r>
              <a:rPr lang="zh-CN" altLang="en-US" dirty="0"/>
              <a:t>出现溢出</a:t>
            </a:r>
            <a:endParaRPr lang="en-US" altLang="zh-CN" dirty="0"/>
          </a:p>
          <a:p>
            <a:r>
              <a:rPr lang="zh-CN" altLang="en-US" dirty="0"/>
              <a:t>这时候先计算 </a:t>
            </a:r>
            <a:r>
              <a:rPr lang="en-US" altLang="zh-CN" dirty="0"/>
              <a:t>double(x) / n </a:t>
            </a:r>
            <a:r>
              <a:rPr lang="zh-CN" altLang="en-US" dirty="0"/>
              <a:t>再乘给 </a:t>
            </a:r>
            <a:r>
              <a:rPr lang="en-US" altLang="zh-CN" dirty="0"/>
              <a:t>term</a:t>
            </a:r>
            <a:r>
              <a:rPr lang="zh-CN" altLang="en-US" dirty="0"/>
              <a:t>，或者先计算 </a:t>
            </a:r>
            <a:r>
              <a:rPr lang="en-US" altLang="zh-CN" dirty="0"/>
              <a:t>term / n </a:t>
            </a:r>
            <a:r>
              <a:rPr lang="zh-CN" altLang="en-US" dirty="0"/>
              <a:t>再乘上 </a:t>
            </a:r>
            <a:r>
              <a:rPr lang="en-US" altLang="zh-CN" dirty="0"/>
              <a:t>x </a:t>
            </a:r>
            <a:r>
              <a:rPr lang="zh-CN" altLang="en-US" dirty="0"/>
              <a:t>是避免过程溢出的常见处理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E886CB-9B0A-4D9A-891F-1C269D161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244" y="2611764"/>
            <a:ext cx="287695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8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0C7B5-A327-4648-A241-069D90E4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DC7BC-06DF-4158-A1CA-A7502383F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107452"/>
          </a:xfrm>
        </p:spPr>
        <p:txBody>
          <a:bodyPr/>
          <a:lstStyle/>
          <a:p>
            <a:r>
              <a:rPr lang="zh-CN" altLang="en-US" dirty="0"/>
              <a:t>是否可以借助 </a:t>
            </a:r>
            <a:r>
              <a:rPr lang="en-US" altLang="zh-CN" dirty="0" err="1"/>
              <a:t>zeller</a:t>
            </a:r>
            <a:r>
              <a:rPr lang="en-US" altLang="zh-CN" dirty="0"/>
              <a:t> </a:t>
            </a:r>
            <a:r>
              <a:rPr lang="zh-CN" altLang="en-US" dirty="0"/>
              <a:t>函数的值直接确定宽度？</a:t>
            </a:r>
            <a:endParaRPr lang="en-US" altLang="zh-CN" dirty="0"/>
          </a:p>
          <a:p>
            <a:r>
              <a:rPr lang="en-US" altLang="zh-CN" dirty="0" err="1"/>
              <a:t>setw</a:t>
            </a:r>
            <a:r>
              <a:rPr lang="en-US" altLang="zh-CN" dirty="0"/>
              <a:t>() </a:t>
            </a:r>
            <a:r>
              <a:rPr lang="zh-CN" altLang="en-US" dirty="0"/>
              <a:t>和空格混合输出是否会降低可读性？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07042F-4F51-429B-AA0D-181D04DE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605" y="609599"/>
            <a:ext cx="2891222" cy="60927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5BF1A4-DFD2-416C-87F6-D37D915BA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26" y="3352704"/>
            <a:ext cx="3953427" cy="13717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FE542D2-5E3E-44BC-979B-5696BE6A2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26" y="4938000"/>
            <a:ext cx="362953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2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D0FF6-F9CD-407E-B7F6-E146E9308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D6C8B4-272F-412D-B589-56D0E1705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92" y="1900136"/>
            <a:ext cx="4018513" cy="4724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9532A6-08E7-4AD4-BE15-2F68F45A9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420" y="1900136"/>
            <a:ext cx="2839160" cy="49414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D8D8264-9E5D-4DDE-917D-9AC5BEF03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887" y="1900136"/>
            <a:ext cx="2896004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7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CAF22-9B32-418C-BC36-A6096016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845C9B-08DF-49A5-A7CB-C9628501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496559"/>
          </a:xfrm>
        </p:spPr>
        <p:txBody>
          <a:bodyPr/>
          <a:lstStyle/>
          <a:p>
            <a:r>
              <a:rPr lang="zh-CN" altLang="en-US" dirty="0"/>
              <a:t>在条件明确的情况下，能否避免条件跳出型的死循环？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31C553-2A13-4A72-BF1E-C3066AD21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298" y="2360171"/>
            <a:ext cx="2734057" cy="35628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8B8239-8169-4CD3-9DA2-6D54B55A7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003" y="4041778"/>
            <a:ext cx="2695951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1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CAF22-9B32-418C-BC36-A6096016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845C9B-08DF-49A5-A7CB-C9628501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924576"/>
          </a:xfrm>
        </p:spPr>
        <p:txBody>
          <a:bodyPr/>
          <a:lstStyle/>
          <a:p>
            <a:r>
              <a:rPr lang="zh-CN" altLang="en-US" dirty="0"/>
              <a:t>在条件明确的情况下，能否避免条件跳出型的死循环？</a:t>
            </a:r>
            <a:endParaRPr lang="en-US" altLang="zh-CN" dirty="0"/>
          </a:p>
          <a:p>
            <a:r>
              <a:rPr lang="zh-CN" altLang="en-US" dirty="0"/>
              <a:t>条件分支的位置如何简化结构？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65DB53B-F935-42EE-8EE9-CCD7E709E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527" y="753065"/>
            <a:ext cx="3174508" cy="59205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651A030-7EB1-4F29-B3AC-1108A0629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898" y="4267199"/>
            <a:ext cx="3486637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4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924C9-3A2C-4AB4-B473-B5EFE0FF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B16499-4F2A-489C-8368-36212668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思考：代码中的两个分支是否有大量重复？</a:t>
            </a:r>
            <a:endParaRPr lang="en-US" altLang="zh-CN" dirty="0"/>
          </a:p>
          <a:p>
            <a:r>
              <a:rPr lang="zh-CN" altLang="en-US" dirty="0"/>
              <a:t>如何合理安排分支顺序，减少重复？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A051B3-E206-48E0-94F4-A8CBDCD89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31" y="0"/>
            <a:ext cx="2581129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588553-F016-4DEC-BD6F-8AB96A07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072" y="1809661"/>
            <a:ext cx="5572903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6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12AFFF7-6353-4E55-B57E-BC32C058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30" y="3920766"/>
            <a:ext cx="5439688" cy="2359009"/>
          </a:xfrm>
          <a:prstGeom prst="rect">
            <a:avLst/>
          </a:prstGeom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8ACA616-8F3A-4490-A311-26C78F958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079011" cy="1464134"/>
          </a:xfrm>
        </p:spPr>
        <p:txBody>
          <a:bodyPr/>
          <a:lstStyle/>
          <a:p>
            <a:r>
              <a:rPr lang="zh-CN" altLang="en-US" dirty="0"/>
              <a:t>进一步思考：对于天数相同的月份，可不可以用逻辑运算符合并分支？可不可以用 </a:t>
            </a:r>
            <a:r>
              <a:rPr lang="en-US" altLang="zh-CN" dirty="0"/>
              <a:t>switch-case </a:t>
            </a:r>
            <a:r>
              <a:rPr lang="zh-CN" altLang="en-US" dirty="0"/>
              <a:t>的性质合并分支？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382B7A3-C0F5-4B29-AB1F-6EBC7BC9B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57" y="1897538"/>
            <a:ext cx="4252562" cy="462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0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程序设计的逻辑结构优化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8ACA616-8F3A-4490-A311-26C78F958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079011" cy="1464134"/>
          </a:xfrm>
        </p:spPr>
        <p:txBody>
          <a:bodyPr/>
          <a:lstStyle/>
          <a:p>
            <a:r>
              <a:rPr lang="zh-CN" altLang="en-US" dirty="0"/>
              <a:t>进一步</a:t>
            </a:r>
            <a:r>
              <a:rPr lang="en-US" altLang="zh-CN" baseline="30000" dirty="0"/>
              <a:t>2</a:t>
            </a:r>
            <a:r>
              <a:rPr lang="zh-CN" altLang="en-US" dirty="0"/>
              <a:t>思考：能否利用数组下标作为索引记录月份天数？</a:t>
            </a:r>
            <a:endParaRPr lang="en-US" altLang="zh-CN" dirty="0"/>
          </a:p>
          <a:p>
            <a:r>
              <a:rPr lang="zh-CN" altLang="en-US" dirty="0"/>
              <a:t>既然闰年二月只多一天，是否可以利用 </a:t>
            </a:r>
            <a:r>
              <a:rPr lang="en-US" altLang="zh-CN" dirty="0"/>
              <a:t>int(true) == 1</a:t>
            </a:r>
            <a:r>
              <a:rPr lang="zh-CN" altLang="en-US" dirty="0"/>
              <a:t>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BBD6D9-22B7-46CE-853C-0E9F017AA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05" y="3510943"/>
            <a:ext cx="7087589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3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程序设计技巧杂谈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52272B-8E26-4BC8-8DD7-D992257C9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06" y="1951195"/>
            <a:ext cx="1006933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74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6855D-6E58-49E3-902B-4BBAD41B3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程序设计技巧杂谈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1E8386-E414-426D-96B1-E21C7511D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FA624D-17DB-43F3-83CA-2DA730E5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564" y="1854742"/>
            <a:ext cx="4053930" cy="48670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8FF81C-B28B-4D93-ADB7-F1EB500DC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10" y="1854742"/>
            <a:ext cx="5847502" cy="372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37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6B876-95B0-4EB2-818B-566C28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程序设计技巧杂谈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3CE094-79AD-4DB0-B877-465DE9612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85" y="2048890"/>
            <a:ext cx="7129080" cy="38808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7FAC8C6-863C-4D0A-9E3D-14E233B90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8665" y="2180496"/>
                <a:ext cx="4062142" cy="367830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借助数学方法简化问题</a:t>
                </a:r>
                <a:endParaRPr lang="en-US" altLang="zh-CN" dirty="0"/>
              </a:p>
              <a:p>
                <a:r>
                  <a:rPr lang="zh-CN" altLang="en-US" dirty="0"/>
                  <a:t>对九个变量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zh-CN" altLang="en-US" b="0" dirty="0"/>
                  <a:t>，只需计算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b="0" dirty="0"/>
                  <a:t> 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并将其与预设值比对，即可验证是否为无序的不重复的数字 </a:t>
                </a:r>
                <a:r>
                  <a:rPr lang="en-US" altLang="zh-CN" b="0" dirty="0"/>
                  <a:t>1~9</a:t>
                </a:r>
              </a:p>
              <a:p>
                <a:endParaRPr lang="en-US" altLang="zh-CN" b="0" dirty="0"/>
              </a:p>
              <a:p>
                <a:r>
                  <a:rPr lang="zh-CN" altLang="en-US" b="0" dirty="0"/>
                  <a:t>接下来简单探索一下该方法的非退化情况及其数学证明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7FAC8C6-863C-4D0A-9E3D-14E233B90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8665" y="2180496"/>
                <a:ext cx="4062142" cy="3678303"/>
              </a:xfrm>
              <a:blipFill>
                <a:blip r:embed="rId3"/>
                <a:stretch>
                  <a:fillRect l="-600" b="-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187791"/>
      </p:ext>
    </p:extLst>
  </p:cSld>
  <p:clrMapOvr>
    <a:masterClrMapping/>
  </p:clrMapOvr>
</p:sld>
</file>

<file path=ppt/theme/theme1.xml><?xml version="1.0" encoding="utf-8"?>
<a:theme xmlns:a="http://schemas.openxmlformats.org/drawingml/2006/main" name="红利">
  <a:themeElements>
    <a:clrScheme name="红利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1926</TotalTime>
  <Words>626</Words>
  <Application>Microsoft Office PowerPoint</Application>
  <PresentationFormat>宽屏</PresentationFormat>
  <Paragraphs>59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华文中宋</vt:lpstr>
      <vt:lpstr>Cambria Math</vt:lpstr>
      <vt:lpstr>Gill Sans MT</vt:lpstr>
      <vt:lpstr>Wingdings 2</vt:lpstr>
      <vt:lpstr>红利</vt:lpstr>
      <vt:lpstr>程序设计的逻辑结构优化 与技巧分析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程序设计的逻辑结构优化</vt:lpstr>
      <vt:lpstr>程序设计技巧杂谈</vt:lpstr>
      <vt:lpstr>程序设计技巧杂谈</vt:lpstr>
      <vt:lpstr>程序设计技巧杂谈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程序设计的逻辑结构优化</dc:title>
  <dc:creator>zz C</dc:creator>
  <cp:lastModifiedBy>zz C</cp:lastModifiedBy>
  <cp:revision>33</cp:revision>
  <dcterms:created xsi:type="dcterms:W3CDTF">2026-04-20T01:44:01Z</dcterms:created>
  <dcterms:modified xsi:type="dcterms:W3CDTF">2026-04-24T11:39:14Z</dcterms:modified>
</cp:coreProperties>
</file>